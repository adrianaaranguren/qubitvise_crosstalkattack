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Mon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157fd2073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6157fd2073_1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57fd2073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57fd20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6157fd2073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157fd2073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157fd207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6157fd2073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157fd2073_1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157fd2073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6157fd2073_1_1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157fd2073_1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157fd2073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6157fd2073_1_2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157fd2073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6157fd2073_1_2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157fd2073_1_3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157fd2073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6157fd2073_1_3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57fd2073_1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157fd2073_1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6157fd2073_1_3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9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5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9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">
  <p:cSld name="Separator P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type="title"/>
          </p:nvPr>
        </p:nvSpPr>
        <p:spPr>
          <a:xfrm>
            <a:off x="0" y="2056080"/>
            <a:ext cx="9144000" cy="273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2"/>
          <p:cNvSpPr txBox="1"/>
          <p:nvPr/>
        </p:nvSpPr>
        <p:spPr>
          <a:xfrm>
            <a:off x="3136197" y="-40608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2">
  <p:cSld name="Separator Pa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>
            <p:ph type="title"/>
          </p:nvPr>
        </p:nvSpPr>
        <p:spPr>
          <a:xfrm>
            <a:off x="0" y="2056080"/>
            <a:ext cx="9144000" cy="27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1">
  <p:cSld name="Separator Pag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>
            <a:off x="0" y="2056080"/>
            <a:ext cx="9144000" cy="27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2">
  <p:cSld name="Separator Pa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type="title"/>
          </p:nvPr>
        </p:nvSpPr>
        <p:spPr>
          <a:xfrm>
            <a:off x="0" y="2056080"/>
            <a:ext cx="9144000" cy="27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3">
  <p:cSld name="Master 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2" name="Google Shape;132;p22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23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0" name="Google Shape;140;p23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23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2" name="Google Shape;142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3" name="Google Shape;153;p25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4" name="Google Shape;154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3136197" y="-40608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>
            <p:ph type="ctrTitle"/>
          </p:nvPr>
        </p:nvSpPr>
        <p:spPr>
          <a:xfrm>
            <a:off x="1145625" y="1741525"/>
            <a:ext cx="8855700" cy="21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4450"/>
              <a:t>Cross-talk attack </a:t>
            </a:r>
            <a:endParaRPr b="1" sz="4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4450"/>
              <a:t>on Rigetti quantum computer</a:t>
            </a:r>
            <a:endParaRPr b="1" sz="4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Arial"/>
              <a:buNone/>
            </a:pPr>
            <a:r>
              <a:t/>
            </a:r>
            <a:endParaRPr sz="3759"/>
          </a:p>
        </p:txBody>
      </p:sp>
      <p:sp>
        <p:nvSpPr>
          <p:cNvPr id="183" name="Google Shape;183;p29"/>
          <p:cNvSpPr txBox="1"/>
          <p:nvPr>
            <p:ph idx="1" type="subTitle"/>
          </p:nvPr>
        </p:nvSpPr>
        <p:spPr>
          <a:xfrm>
            <a:off x="2978225" y="3921925"/>
            <a:ext cx="54261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200">
                <a:solidFill>
                  <a:schemeClr val="dk1"/>
                </a:solidFill>
              </a:rPr>
              <a:t>Presenters: </a:t>
            </a:r>
            <a:r>
              <a:rPr lang="en-US" sz="2200">
                <a:solidFill>
                  <a:schemeClr val="dk1"/>
                </a:solidFill>
              </a:rPr>
              <a:t>He Xie, Adriana Aranguren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647225" y="5171200"/>
            <a:ext cx="27357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Comp_Eng 395 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Date: 06.05.2025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>
            <p:ph type="ctrTitle"/>
          </p:nvPr>
        </p:nvSpPr>
        <p:spPr>
          <a:xfrm>
            <a:off x="4187725" y="967400"/>
            <a:ext cx="52026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</a:rPr>
              <a:t>Background 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91" name="Google Shape;191;p30"/>
          <p:cNvSpPr txBox="1"/>
          <p:nvPr>
            <p:ph idx="1" type="subTitle"/>
          </p:nvPr>
        </p:nvSpPr>
        <p:spPr>
          <a:xfrm>
            <a:off x="893425" y="1658675"/>
            <a:ext cx="7973400" cy="4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br>
              <a:rPr b="1" lang="en-US" sz="6857">
                <a:solidFill>
                  <a:schemeClr val="dk1"/>
                </a:solidFill>
              </a:rPr>
            </a:br>
            <a:r>
              <a:rPr b="1" lang="en-US" sz="5815">
                <a:solidFill>
                  <a:schemeClr val="dk1"/>
                </a:solidFill>
              </a:rPr>
              <a:t>Cross-Talk in Quantum Computers</a:t>
            </a:r>
            <a:endParaRPr b="1" sz="5815">
              <a:solidFill>
                <a:schemeClr val="dk1"/>
              </a:solidFill>
            </a:endParaRPr>
          </a:p>
          <a:p>
            <a:pPr indent="-32091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5815">
                <a:solidFill>
                  <a:schemeClr val="dk1"/>
                </a:solidFill>
              </a:rPr>
              <a:t>When multiple qubits perform gates simultaneously, unintended interactions (“cross-talk”) can introduce errors in neighboring qubits.</a:t>
            </a:r>
            <a:br>
              <a:rPr lang="en-US" sz="5815">
                <a:solidFill>
                  <a:schemeClr val="dk1"/>
                </a:solidFill>
              </a:rPr>
            </a:br>
            <a:endParaRPr sz="5815">
              <a:solidFill>
                <a:schemeClr val="dk1"/>
              </a:solidFill>
            </a:endParaRPr>
          </a:p>
          <a:p>
            <a:pPr indent="-3209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5815">
                <a:solidFill>
                  <a:schemeClr val="dk1"/>
                </a:solidFill>
              </a:rPr>
              <a:t>Cross-talk arises due to residual coupling between physical qubits, imperfect isolation, and limitations in hardware design.</a:t>
            </a:r>
            <a:br>
              <a:rPr lang="en-US" sz="5815">
                <a:solidFill>
                  <a:schemeClr val="dk1"/>
                </a:solidFill>
              </a:rPr>
            </a:br>
            <a:endParaRPr sz="5815">
              <a:solidFill>
                <a:schemeClr val="dk1"/>
              </a:solidFill>
            </a:endParaRPr>
          </a:p>
          <a:p>
            <a:pPr indent="-3209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5815">
                <a:solidFill>
                  <a:schemeClr val="dk1"/>
                </a:solidFill>
              </a:rPr>
              <a:t>These errors are especially severe when running large or parallel quantum circuits, as simultaneous operations increase the risk of interference.</a:t>
            </a:r>
            <a:br>
              <a:rPr lang="en-US" sz="5815">
                <a:solidFill>
                  <a:schemeClr val="dk1"/>
                </a:solidFill>
              </a:rPr>
            </a:br>
            <a:endParaRPr sz="58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815">
                <a:solidFill>
                  <a:schemeClr val="dk1"/>
                </a:solidFill>
              </a:rPr>
              <a:t>Cross-talk can cause:</a:t>
            </a:r>
            <a:endParaRPr sz="5815">
              <a:solidFill>
                <a:schemeClr val="dk1"/>
              </a:solidFill>
            </a:endParaRPr>
          </a:p>
          <a:p>
            <a:pPr indent="-32091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5815">
                <a:solidFill>
                  <a:schemeClr val="dk1"/>
                </a:solidFill>
              </a:rPr>
              <a:t>Loss of quantum coherence</a:t>
            </a:r>
            <a:r>
              <a:rPr lang="en-US" sz="5815">
                <a:solidFill>
                  <a:schemeClr val="dk1"/>
                </a:solidFill>
              </a:rPr>
              <a:t> (decoherence)</a:t>
            </a:r>
            <a:br>
              <a:rPr lang="en-US" sz="5815">
                <a:solidFill>
                  <a:schemeClr val="dk1"/>
                </a:solidFill>
              </a:rPr>
            </a:br>
            <a:endParaRPr sz="5815">
              <a:solidFill>
                <a:schemeClr val="dk1"/>
              </a:solidFill>
            </a:endParaRPr>
          </a:p>
          <a:p>
            <a:pPr indent="-3209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5815">
                <a:solidFill>
                  <a:schemeClr val="dk1"/>
                </a:solidFill>
              </a:rPr>
              <a:t>Unintended entanglement</a:t>
            </a:r>
            <a:r>
              <a:rPr lang="en-US" sz="5815">
                <a:solidFill>
                  <a:schemeClr val="dk1"/>
                </a:solidFill>
              </a:rPr>
              <a:t> or unwanted correlations between qubits</a:t>
            </a:r>
            <a:br>
              <a:rPr lang="en-US" sz="5815">
                <a:solidFill>
                  <a:schemeClr val="dk1"/>
                </a:solidFill>
              </a:rPr>
            </a:br>
            <a:endParaRPr sz="5815">
              <a:solidFill>
                <a:schemeClr val="dk1"/>
              </a:solidFill>
            </a:endParaRPr>
          </a:p>
          <a:p>
            <a:pPr indent="-3209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5815">
                <a:solidFill>
                  <a:schemeClr val="dk1"/>
                </a:solidFill>
              </a:rPr>
              <a:t>Distortion of expected measurement outcomes</a:t>
            </a:r>
            <a:r>
              <a:rPr lang="en-US" sz="5815">
                <a:solidFill>
                  <a:schemeClr val="dk1"/>
                </a:solidFill>
              </a:rPr>
              <a:t>, making computations unreliable</a:t>
            </a:r>
            <a:br>
              <a:rPr lang="en-US" sz="5815">
                <a:solidFill>
                  <a:schemeClr val="dk1"/>
                </a:solidFill>
              </a:rPr>
            </a:br>
            <a:br>
              <a:rPr lang="en-US" sz="5815">
                <a:solidFill>
                  <a:schemeClr val="dk1"/>
                </a:solidFill>
              </a:rPr>
            </a:br>
            <a:endParaRPr sz="581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5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57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ctrTitle"/>
          </p:nvPr>
        </p:nvSpPr>
        <p:spPr>
          <a:xfrm>
            <a:off x="558750" y="221525"/>
            <a:ext cx="49098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900"/>
              <a:t>Project Objectives</a:t>
            </a:r>
            <a:endParaRPr b="1" sz="3900"/>
          </a:p>
        </p:txBody>
      </p:sp>
      <p:sp>
        <p:nvSpPr>
          <p:cNvPr id="197" name="Google Shape;197;p31"/>
          <p:cNvSpPr txBox="1"/>
          <p:nvPr>
            <p:ph idx="1" type="subTitle"/>
          </p:nvPr>
        </p:nvSpPr>
        <p:spPr>
          <a:xfrm>
            <a:off x="673725" y="1400225"/>
            <a:ext cx="74226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Evaluate the impact of a new cross-talk (rowhammer-style) attack on the Rigetti Ankaa-3 quantum computer using qBraid.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Design and implement the attack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Run a dense CNOT circuit on attacker qubits while the victim circuit executes on neighboring qubits.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Measure and compare: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Collect output distributions from the victim circuit both alone and under attack.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Assess how the attacker affects the victim’s computation fidelity.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-US" sz="1500">
                <a:solidFill>
                  <a:schemeClr val="dk1"/>
                </a:solidFill>
              </a:rPr>
              <a:t>Analyze scalability: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Vary attacker strength and victim size to quantify how cross-talk error scales.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Goal: </a:t>
            </a:r>
            <a:r>
              <a:rPr lang="en-US" sz="1500">
                <a:solidFill>
                  <a:schemeClr val="dk1"/>
                </a:solidFill>
              </a:rPr>
              <a:t>Demonstrate and visualize how much a cross-talk attack can disrupt quantum computation.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57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040"/>
              <a:buNone/>
            </a:pPr>
            <a:r>
              <a:t/>
            </a:r>
            <a:endParaRPr sz="1040"/>
          </a:p>
        </p:txBody>
      </p:sp>
      <p:sp>
        <p:nvSpPr>
          <p:cNvPr id="198" name="Google Shape;198;p31"/>
          <p:cNvSpPr txBox="1"/>
          <p:nvPr>
            <p:ph idx="12" type="sldNum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ctrTitle"/>
          </p:nvPr>
        </p:nvSpPr>
        <p:spPr>
          <a:xfrm>
            <a:off x="161050" y="577950"/>
            <a:ext cx="8526300" cy="5702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2673"/>
              <a:buFont typeface="Arial"/>
              <a:buNone/>
            </a:pPr>
            <a:r>
              <a:rPr b="1" lang="en-US" sz="3366"/>
              <a:t>Experimental Procedure</a:t>
            </a:r>
            <a:endParaRPr b="1" sz="3366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/>
              <a:t>Step 1: Select Victim Circuit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00"/>
              <a:t>Choose a quantum circuit as the victim (here: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ising_n10</a:t>
            </a:r>
            <a:r>
              <a:rPr lang="en-US" sz="2000"/>
              <a:t> from QASMBench, 10 qubits).</a:t>
            </a:r>
            <a:br>
              <a:rPr lang="en-US" sz="2000"/>
            </a:b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/>
              <a:t>Step 2: Run Baseline Simulation</a:t>
            </a:r>
            <a:endParaRPr b="1"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00"/>
              <a:t>Execute the victim circuit alone, </a:t>
            </a:r>
            <a:r>
              <a:rPr b="1" lang="en-US" sz="2000"/>
              <a:t>without attackers</a:t>
            </a:r>
            <a:r>
              <a:rPr lang="en-US" sz="2000"/>
              <a:t>.</a:t>
            </a:r>
            <a:br>
              <a:rPr lang="en-US" sz="2000"/>
            </a:b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00"/>
              <a:t>Collect and record the measurement output distribution (counts of each bitstring).</a:t>
            </a:r>
            <a:br>
              <a:rPr lang="en-US" sz="2000"/>
            </a:b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00"/>
              <a:t>This serves as the baseline reference.</a:t>
            </a:r>
            <a:br>
              <a:rPr lang="en-US" sz="2000"/>
            </a:br>
            <a:endParaRPr/>
          </a:p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8339168" y="6356350"/>
            <a:ext cx="59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ctrTitle"/>
          </p:nvPr>
        </p:nvSpPr>
        <p:spPr>
          <a:xfrm>
            <a:off x="208800" y="294000"/>
            <a:ext cx="4363200" cy="3777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/>
              <a:t>Step 3: Construct Cross-Talk Attack</a:t>
            </a:r>
            <a:endParaRPr b="1" sz="1550"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550"/>
              <a:t>Design two attacker circuits: one above and one below the victim circuit.</a:t>
            </a:r>
            <a:br>
              <a:rPr lang="en-US" sz="1550"/>
            </a:br>
            <a:endParaRPr sz="155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550"/>
              <a:t>Insert the victim circuit between the two attackers (sandwiched layout) to simulate cross-talk.</a:t>
            </a:r>
            <a:endParaRPr sz="15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50"/>
              <a:t>Step 4: Run Attack Simulation</a:t>
            </a:r>
            <a:endParaRPr b="1" sz="1550"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550"/>
              <a:t>Execute the combined “sandwiched” circuit (attacker1 + victim + attacker2).</a:t>
            </a:r>
            <a:br>
              <a:rPr lang="en-US" sz="1550"/>
            </a:br>
            <a:endParaRPr sz="155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550"/>
              <a:t>Collect and record the new measurement output distribution.</a:t>
            </a:r>
            <a:endParaRPr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339168" y="6356350"/>
            <a:ext cx="59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050" y="656900"/>
            <a:ext cx="4657926" cy="277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3"/>
          <p:cNvSpPr txBox="1"/>
          <p:nvPr/>
        </p:nvSpPr>
        <p:spPr>
          <a:xfrm>
            <a:off x="290925" y="4255800"/>
            <a:ext cx="6852900" cy="2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Step 5: Data Analysis and Visualization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Compare the bitstring distributions from baseline and attack.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Visualize the results (bar charts, probability tables).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Quantify the difference in output patterns before and after attack.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4960175" y="3580200"/>
            <a:ext cx="34437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Rigetti </a:t>
            </a:r>
            <a:r>
              <a:rPr lang="en-US" sz="1200">
                <a:solidFill>
                  <a:schemeClr val="dk1"/>
                </a:solidFill>
              </a:rPr>
              <a:t>Systems Ankaa</a:t>
            </a:r>
            <a:r>
              <a:rPr lang="en-US" sz="1200">
                <a:solidFill>
                  <a:schemeClr val="dk1"/>
                </a:solidFill>
              </a:rPr>
              <a:t>-3 Quantum Processor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ctrTitle"/>
          </p:nvPr>
        </p:nvSpPr>
        <p:spPr>
          <a:xfrm>
            <a:off x="1802950" y="157375"/>
            <a:ext cx="4946100" cy="642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</a:t>
            </a:r>
            <a:r>
              <a:rPr b="1" lang="en-US"/>
              <a:t>ata Analysis</a:t>
            </a:r>
            <a:endParaRPr b="1"/>
          </a:p>
        </p:txBody>
      </p:sp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8339168" y="6356350"/>
            <a:ext cx="59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3" name="Google Shape;223;p34" title="4621749116207_.pic.jpg"/>
          <p:cNvPicPr preferRelativeResize="0"/>
          <p:nvPr/>
        </p:nvPicPr>
        <p:blipFill rotWithShape="1">
          <a:blip r:embed="rId3">
            <a:alphaModFix/>
          </a:blip>
          <a:srcRect b="12526" l="0" r="75020" t="0"/>
          <a:stretch/>
        </p:blipFill>
        <p:spPr>
          <a:xfrm>
            <a:off x="305475" y="1952600"/>
            <a:ext cx="1361374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 title="4611749116162_.pi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325" y="1571787"/>
            <a:ext cx="7048451" cy="32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339168" y="6356350"/>
            <a:ext cx="597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/>
        </p:nvSpPr>
        <p:spPr>
          <a:xfrm>
            <a:off x="4684575" y="89175"/>
            <a:ext cx="42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Comparison</a:t>
            </a:r>
            <a:endParaRPr b="1"/>
          </a:p>
        </p:txBody>
      </p:sp>
      <p:pic>
        <p:nvPicPr>
          <p:cNvPr id="235" name="Google Shape;235;p35" title="4631749116225_.pic.jpg"/>
          <p:cNvPicPr preferRelativeResize="0"/>
          <p:nvPr/>
        </p:nvPicPr>
        <p:blipFill rotWithShape="1">
          <a:blip r:embed="rId4">
            <a:alphaModFix/>
          </a:blip>
          <a:srcRect b="8925" l="0" r="30843" t="1995"/>
          <a:stretch/>
        </p:blipFill>
        <p:spPr>
          <a:xfrm>
            <a:off x="2950250" y="886000"/>
            <a:ext cx="4698501" cy="260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 title="4641749116248_.pic.jpg"/>
          <p:cNvPicPr preferRelativeResize="0"/>
          <p:nvPr/>
        </p:nvPicPr>
        <p:blipFill rotWithShape="1">
          <a:blip r:embed="rId5">
            <a:alphaModFix/>
          </a:blip>
          <a:srcRect b="19015" l="1027" r="1086" t="0"/>
          <a:stretch/>
        </p:blipFill>
        <p:spPr>
          <a:xfrm>
            <a:off x="2013850" y="3600425"/>
            <a:ext cx="7130151" cy="270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title"/>
          </p:nvPr>
        </p:nvSpPr>
        <p:spPr>
          <a:xfrm>
            <a:off x="136075" y="149600"/>
            <a:ext cx="8496900" cy="639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/>
              <a:t>Conclusion</a:t>
            </a:r>
            <a:endParaRPr b="1" sz="1800"/>
          </a:p>
          <a:p>
            <a:pPr indent="-37041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33"/>
              <a:buChar char="●"/>
            </a:pPr>
            <a:r>
              <a:rPr lang="en-US" sz="2233"/>
              <a:t>Cross-talk attacks can severely disrupt quantum computations on near-term hardware.</a:t>
            </a:r>
            <a:br>
              <a:rPr lang="en-US" sz="2233"/>
            </a:br>
            <a:endParaRPr sz="2233"/>
          </a:p>
          <a:p>
            <a:pPr indent="-3704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33"/>
              <a:buChar char="●"/>
            </a:pPr>
            <a:r>
              <a:rPr lang="en-US" sz="2233"/>
              <a:t>Our experiments show that the victim circuit’s correct outputs disappear entirely under attack, replaced by many low-probability “random” results.</a:t>
            </a:r>
            <a:br>
              <a:rPr lang="en-US" sz="2233"/>
            </a:br>
            <a:endParaRPr sz="2233"/>
          </a:p>
          <a:p>
            <a:pPr indent="-3704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33"/>
              <a:buChar char="●"/>
            </a:pPr>
            <a:r>
              <a:rPr lang="en-US" sz="2233"/>
              <a:t>This demonstrates that even without direct access to the victim’s qubits, a strong attacker can destroy computational fidelity just by running dense operations in parallel.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77975" y="952375"/>
            <a:ext cx="6773400" cy="220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/>
              <a:t>Reference: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QASMBench:https://github.com/pnnl/QASMBench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0" y="2056080"/>
            <a:ext cx="9144000" cy="273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